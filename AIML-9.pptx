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Sans Bold"/>
      <p:regular r:id="rId201314"/>
    </p:embeddedFont>
    <p:embeddedFont>
      <p:font typeface="Funnel Sans ExtraBold"/>
      <p:regular r:id="rId201315"/>
    </p:embeddedFont>
    <p:embeddedFont>
      <p:font typeface="Funnel Sans Light"/>
      <p:regular r:id="rId201316"/>
    </p:embeddedFont>
    <p:embeddedFont>
      <p:font typeface="Funnel Sans"/>
      <p:regular r:id="rId201317"/>
    </p:embeddedFont>
    <p:embeddedFont>
      <p:font typeface="Funnel Sans Medium"/>
      <p:regular r:id="rId201318"/>
    </p:embeddedFont>
    <p:embeddedFont>
      <p:font typeface="Funnel Sans SemiBold"/>
      <p:regular r:id="rId201319"/>
    </p:embeddedFont>
    <p:embeddedFont>
      <p:font typeface="Mona Sans Bold"/>
      <p:regular r:id="rId201320"/>
    </p:embeddedFont>
    <p:embeddedFont>
      <p:font typeface="Mona Sans ExtraBold"/>
      <p:regular r:id="rId201321"/>
    </p:embeddedFont>
    <p:embeddedFont>
      <p:font typeface="Mona Sans Black"/>
      <p:regular r:id="rId201322"/>
    </p:embeddedFont>
    <p:embeddedFont>
      <p:font typeface="Mona Sans ExtraLight"/>
      <p:regular r:id="rId201323"/>
    </p:embeddedFont>
    <p:embeddedFont>
      <p:font typeface="Mona Sans Light"/>
      <p:regular r:id="rId201324"/>
    </p:embeddedFont>
    <p:embeddedFont>
      <p:font typeface="Mona Sans"/>
      <p:regular r:id="rId201325"/>
    </p:embeddedFont>
    <p:embeddedFont>
      <p:font typeface="Mona Sans Medium"/>
      <p:regular r:id="rId201326"/>
    </p:embeddedFont>
    <p:embeddedFont>
      <p:font typeface="Mona Sans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Student Examination Score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Using Machine Learning and Academic History Analytics to Forecast Student Performance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19909"/>
            <a:ext cx="1357685" cy="215354"/>
          </a:xfrm>
          <a:prstGeom prst="roundRect">
            <a:avLst>
              <a:gd name="adj" fmla="val 22119"/>
            </a:avLst>
          </a:prstGeom>
          <a:solidFill>
            <a:srgbClr val="E2E4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62399"/>
            <a:ext cx="164477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ACADEMIC AI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53645" y="3319909"/>
            <a:ext cx="140039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8701" y="3362399"/>
            <a:ext cx="168748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PREDICTIVE ANALYTICS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24886" y="3319909"/>
            <a:ext cx="167141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373B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9941" y="3362399"/>
            <a:ext cx="19585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EDUCATIONAL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8653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Academic Challenge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4212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semester, educators face a critical blind spot: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which students will struggle — and why?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Without predictive insight, interventions arrive too late, often after failure has already occurred.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082031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222855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Reactive Support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535064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Interventions typically happen after poor results, missing the window for meaningful impact.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082031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222855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Fragmented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535064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Attendance, assignments, and behavior data exist in silos, rarely analyzed together.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03786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65030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One-Size-Fits-All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3956819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Generic teaching approaches fail to address individual student learning patterns and risks.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40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6391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system bridges the gap between raw academic data and actionable educator insight through four core goals.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50194"/>
            <a:ext cx="4004965" cy="15070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92263" y="16465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Predict Scores Accurately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442790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Forecast future examination scores using ML models trained on academic history and study behavior.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550194"/>
            <a:ext cx="4005039" cy="15070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9061" y="164656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803651" y="2136279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Identify At-Risk Students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803651" y="2442790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Flag students requiring early academic intervention before performance declines.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98986"/>
            <a:ext cx="4004965" cy="15070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92263" y="329535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56927" y="3785071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Generate Predictive Reports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56927" y="4091583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 dashboards and summaries to faculty and administrators for data-driven decisions.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198986"/>
            <a:ext cx="4005039" cy="15070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39061" y="329535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4803651" y="3785071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Enable Personalized Mentoring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03651" y="4091583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Support tailored student guidance through behavior analytics and performance trends.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System Architecture Overview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813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End-to-End Pipeline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0015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system flows from raw institutional data through intelligent processing to actionable educator insights. Each layer is modular, enabling independent scaling and maintenance.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10979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Data Collection: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Integrates with SIS, LMS, and manual inputs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ML Engine: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Supports multiple algorithms with auto-selection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Analytics: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Real-time dashboards with drill-down capability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Security: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Role-based access and encrypted data storage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49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Inputs &amp; Feature Engineering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75618"/>
            <a:ext cx="5192688" cy="29424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6136" y="1066279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Input Data Sources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2645" y="1388269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99163" y="1382167"/>
            <a:ext cx="225340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Academic History: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Previous exam scores, GPA trends, subject-wise performance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2645" y="2163440"/>
            <a:ext cx="186035" cy="186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99163" y="2157338"/>
            <a:ext cx="225340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Behavioral Signals: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Attendance rate, assignment submission patterns, study hours logged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2645" y="2938611"/>
            <a:ext cx="186035" cy="186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99163" y="2932509"/>
            <a:ext cx="225340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Classroom Engagement: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Participation frequency, quiz scores, peer interaction metrics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5996136" y="3612654"/>
            <a:ext cx="2656433" cy="1001316"/>
          </a:xfrm>
          <a:prstGeom prst="roundRect">
            <a:avLst>
              <a:gd name="adj" fmla="val 5203"/>
            </a:avLst>
          </a:prstGeom>
          <a:solidFill>
            <a:srgbClr val="E2E4E9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0110" y="3797201"/>
            <a:ext cx="155004" cy="12397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99088" y="3741241"/>
            <a:ext cx="212950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Feature Engineering: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Rolling averages, score velocity, attendance decay, and engagement indices are derived to improve model sensitivity.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Machine Learning Workflow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0" y="693688"/>
            <a:ext cx="7418040" cy="3929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0033" y="3501780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59608" y="3796255"/>
            <a:ext cx="1964531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Cleaning, normalization, encoding steps.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72694" y="1242009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2269" y="1536485"/>
            <a:ext cx="1964530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Importance ranking and reduction.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44122" y="1242009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44122" y="1536485"/>
            <a:ext cx="1964531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 regression and classification models.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37006" y="3501907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Prediction Output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37006" y="3796383"/>
            <a:ext cx="1964530" cy="277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Score forecasts, classifications, intervals.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6119" y="4665092"/>
            <a:ext cx="860896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pipeline supports multiple algorithms — Linear Regression, Random Forest, Gradient Boosting, and Neural Networks — with automated evaluation to select the best-performing model for each student cohort.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743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Model Performance &amp; Evaluation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19696"/>
            <a:ext cx="3932709" cy="2830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07566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Expected Model Accuracy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19935" y="1288182"/>
            <a:ext cx="393270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Gradient Boosting and ensemble methods consistently outperform baseline models, achieving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90%+ R² scores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 structured academic datasets.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69110"/>
            <a:ext cx="4027289" cy="676647"/>
          </a:xfrm>
          <a:prstGeom prst="roundRect">
            <a:avLst>
              <a:gd name="adj" fmla="val 728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7757" y="4200748"/>
            <a:ext cx="37640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MAE Target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7757" y="4442445"/>
            <a:ext cx="376401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±4 points on a 100-point scale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0592" y="4069110"/>
            <a:ext cx="4027289" cy="676647"/>
          </a:xfrm>
          <a:prstGeom prst="roundRect">
            <a:avLst>
              <a:gd name="adj" fmla="val 728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8C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2231" y="4200748"/>
            <a:ext cx="37640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Risk Detection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52231" y="4442445"/>
            <a:ext cx="376401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85%+ recall on at-risk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30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Analytical Dashboards &amp; Key Features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9506"/>
            <a:ext cx="1143595" cy="706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34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Faculty Dashboard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98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score predictions, at-risk alerts, and class-wide performance trends in a single view.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99506"/>
            <a:ext cx="1143595" cy="706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34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Student Insights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98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Personalized feedback reports showing predicted scores, improvement areas, and study recommendations.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99506"/>
            <a:ext cx="1143595" cy="706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34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Admin Reports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98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Institutional summaries, cohort comparisons, and longitudinal trend analysis for strategic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Security, Scalability &amp; Real-World Applications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0638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Platform Strengths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386" y="2453432"/>
            <a:ext cx="1979340" cy="3527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8035" y="2462957"/>
            <a:ext cx="1877690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Security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4758035" y="2619598"/>
            <a:ext cx="1877690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Role-based access control, encrypted data storage, and FERPA/GDPR compliance built in.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3304" y="2453432"/>
            <a:ext cx="1979340" cy="3527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74954" y="2462957"/>
            <a:ext cx="1877690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Scalability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6774954" y="2619598"/>
            <a:ext cx="1877690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Cloud-native architecture supports hundreds of institutions, from small schools to large universities.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6386" y="2862560"/>
            <a:ext cx="3996258" cy="2642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58035" y="2872085"/>
            <a:ext cx="3894609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Integration</a:t>
            </a:r>
            <a:endParaRPr lang="en-US" sz="700" dirty="0"/>
          </a:p>
        </p:txBody>
      </p:sp>
      <p:sp>
        <p:nvSpPr>
          <p:cNvPr id="13" name="Text 7"/>
          <p:cNvSpPr/>
          <p:nvPr/>
        </p:nvSpPr>
        <p:spPr>
          <a:xfrm>
            <a:off x="4758035" y="3028727"/>
            <a:ext cx="389460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APIs connect with existing SIS, LMS, and HR systems for seamless data flow.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5140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Conclusion &amp; Future Vision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0699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system transforms how educators understand and support student success — moving from reactive remediation 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proactive, data-driven mentorship.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046908"/>
            <a:ext cx="4722763" cy="2545110"/>
          </a:xfrm>
          <a:prstGeom prst="roundRect">
            <a:avLst>
              <a:gd name="adj" fmla="val 2339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2051670"/>
            <a:ext cx="2356619" cy="1491928"/>
          </a:xfrm>
          <a:custGeom>
            <a:avLst/>
            <a:gdLst/>
            <a:ahLst/>
            <a:cxnLst/>
            <a:rect l="l" t="t" r="r" b="b"/>
            <a:pathLst>
              <a:path w="2356619" h="1491928">
                <a:moveTo>
                  <a:pt x="49619" y="0"/>
                </a:moveTo>
                <a:lnTo>
                  <a:pt x="2356619" y="0"/>
                </a:lnTo>
                <a:lnTo>
                  <a:pt x="2356619" y="1491928"/>
                </a:lnTo>
                <a:lnTo>
                  <a:pt x="0" y="1491928"/>
                </a:lnTo>
                <a:lnTo>
                  <a:pt x="0" y="49619"/>
                </a:lnTo>
                <a:arcTo hR="49619" wR="49619" stAng="10800000" swAng="5400000"/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2193429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Current Capabilities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499940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Score prediction, risk flagging, dashboards, and reporting for schools and colleges.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2051670"/>
            <a:ext cx="2356619" cy="1491928"/>
          </a:xfrm>
          <a:custGeom>
            <a:avLst/>
            <a:gdLst/>
            <a:ahLst/>
            <a:cxnLst/>
            <a:rect l="l" t="t" r="r" b="b"/>
            <a:pathLst>
              <a:path w="2356619" h="1491928">
                <a:moveTo>
                  <a:pt x="0" y="0"/>
                </a:moveTo>
                <a:lnTo>
                  <a:pt x="2307000" y="0"/>
                </a:lnTo>
                <a:arcTo hR="49619" wR="49619" stAng="16200000" swAng="5400000"/>
                <a:lnTo>
                  <a:pt x="2356619" y="1491928"/>
                </a:lnTo>
                <a:lnTo>
                  <a:pt x="0" y="1491928"/>
                </a:lnTo>
                <a:lnTo>
                  <a:pt x="0" y="0"/>
                </a:lnTo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051670"/>
            <a:ext cx="19050" cy="1491928"/>
          </a:xfrm>
          <a:prstGeom prst="roundRect">
            <a:avLst>
              <a:gd name="adj" fmla="val 50000"/>
            </a:avLst>
          </a:prstGeom>
          <a:solidFill>
            <a:srgbClr val="C8CACF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2193429"/>
            <a:ext cx="207310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Near-Term Enhancements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2721397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NLP for feedback analysis, mobile app, and integration with video learning platforms.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0881" y="3543598"/>
            <a:ext cx="4713238" cy="104365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hR="49619" wR="49619" stAng="0" swAng="5400000"/>
                <a:lnTo>
                  <a:pt x="49619" y="1043657"/>
                </a:lnTo>
                <a:arcTo hR="49619" w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881" y="3543598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8CACF"/>
          </a:solidFill>
          <a:ln/>
        </p:spPr>
      </p:sp>
      <p:sp>
        <p:nvSpPr>
          <p:cNvPr id="15" name="Text 12"/>
          <p:cNvSpPr/>
          <p:nvPr/>
        </p:nvSpPr>
        <p:spPr>
          <a:xfrm>
            <a:off x="642640" y="3685356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Long-Term Vision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2640" y="399186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Adaptive learning pathways, cross-institutional benchmarking, and AI-powered tutoring recommendations.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2026-07-28T05:43:18Z</dcterms:created>
  <dcterms:modified xsi:type="dcterms:W3CDTF">2026-07-28T05:43:18Z</dcterms:modified>
</cp:coreProperties>
</file>